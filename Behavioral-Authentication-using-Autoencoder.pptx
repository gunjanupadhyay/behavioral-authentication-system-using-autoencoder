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Alexandria" panose="020B0604020202020204" charset="-78"/>
      <p:regular r:id="rId10"/>
    </p:embeddedFont>
    <p:embeddedFont>
      <p:font typeface="Nobile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564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C73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carnegiecylab/keystroke-dynamics-benchmark-data-se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colab.research.google.com/drive/1CP1AZX0nVE3OFycsjfg2GasUsd7e7t7D#scrollTo=iLGARTU9u9WS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D2DDF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18183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Behavioral Authentication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357604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Learning Mini Project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i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</a:t>
            </a: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ubmitted To : Prof. Seeja K. R.</a:t>
            </a:r>
            <a:endParaRPr lang="en-US" sz="1750" b="1" dirty="0"/>
          </a:p>
        </p:txBody>
      </p:sp>
      <p:sp>
        <p:nvSpPr>
          <p:cNvPr id="7" name="Text 4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Presented by:</a:t>
            </a: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Gunjan Upadhyay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Rollno : 00502102025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60482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M.Tech CSE-AI, IGDTUW Delhi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42461"/>
            <a:ext cx="5582007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Problem Statement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81407" y="1779746"/>
            <a:ext cx="4209336" cy="2895005"/>
          </a:xfrm>
          <a:prstGeom prst="roundRect">
            <a:avLst>
              <a:gd name="adj" fmla="val 323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2269" y="2010608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1B54D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6459" y="2194798"/>
            <a:ext cx="301347" cy="301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2269" y="2900243"/>
            <a:ext cx="365057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Traditional Authentication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012269" y="3380899"/>
            <a:ext cx="374761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Relies on passwords and OTP, which can be stolen, reused, or intercepted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0532" y="1779746"/>
            <a:ext cx="4209336" cy="2895005"/>
          </a:xfrm>
          <a:prstGeom prst="roundRect">
            <a:avLst>
              <a:gd name="adj" fmla="val 323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1394" y="2010608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1B54D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5584" y="2194798"/>
            <a:ext cx="301347" cy="301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1394" y="290024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Security Gap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5441394" y="3380899"/>
            <a:ext cx="374761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MFA not always enabled, leaving systems vulnerable to unauthorized access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39657" y="1779746"/>
            <a:ext cx="4209336" cy="2895005"/>
          </a:xfrm>
          <a:prstGeom prst="roundRect">
            <a:avLst>
              <a:gd name="adj" fmla="val 3239"/>
            </a:avLst>
          </a:prstGeom>
          <a:solidFill>
            <a:srgbClr val="D2DDF9"/>
          </a:solidFill>
          <a:ln w="7620">
            <a:solidFill>
              <a:srgbClr val="B8C3D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0519" y="2010608"/>
            <a:ext cx="669846" cy="669846"/>
          </a:xfrm>
          <a:prstGeom prst="roundRect">
            <a:avLst>
              <a:gd name="adj" fmla="val 13649534"/>
            </a:avLst>
          </a:prstGeom>
          <a:solidFill>
            <a:srgbClr val="1B54D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709" y="2194798"/>
            <a:ext cx="301347" cy="301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0519" y="2900243"/>
            <a:ext cx="3718679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 Continuous Verification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870519" y="3380899"/>
            <a:ext cx="3747611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authenticated once at login, with no ongoing behavior monitoring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781407" y="5004435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Research Challenge</a:t>
            </a:r>
            <a:endParaRPr lang="en-US" sz="3500" dirty="0"/>
          </a:p>
        </p:txBody>
      </p:sp>
      <p:sp>
        <p:nvSpPr>
          <p:cNvPr id="19" name="Text 14"/>
          <p:cNvSpPr/>
          <p:nvPr/>
        </p:nvSpPr>
        <p:spPr>
          <a:xfrm>
            <a:off x="781407" y="611207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Objective</a:t>
            </a:r>
            <a:endParaRPr lang="en-US" sz="2150" dirty="0"/>
          </a:p>
        </p:txBody>
      </p:sp>
      <p:sp>
        <p:nvSpPr>
          <p:cNvPr id="20" name="Text 15"/>
          <p:cNvSpPr/>
          <p:nvPr/>
        </p:nvSpPr>
        <p:spPr>
          <a:xfrm>
            <a:off x="781407" y="6680716"/>
            <a:ext cx="626149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 secure and seamless authentication that detects intruders in real-time without disrupting user experience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7595116" y="6112073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Approach</a:t>
            </a:r>
            <a:endParaRPr lang="en-US" sz="2150" dirty="0"/>
          </a:p>
        </p:txBody>
      </p:sp>
      <p:sp>
        <p:nvSpPr>
          <p:cNvPr id="22" name="Text 17"/>
          <p:cNvSpPr/>
          <p:nvPr/>
        </p:nvSpPr>
        <p:spPr>
          <a:xfrm>
            <a:off x="7595116" y="6680716"/>
            <a:ext cx="626149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Behavioral authentication using typing patterns analyzed through deep learning (use Autoencoder)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10314"/>
            <a:ext cx="60765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Dataset &amp; Preprocessing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691283"/>
            <a:ext cx="4283273" cy="378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Keystroke Dynamics Dataset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06993" y="2249924"/>
            <a:ext cx="6635829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Source: Kaggle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6993" y="2717363"/>
            <a:ext cx="6635829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400+ samples per user (51 users)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Multiple subjects with real typing behavior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data collection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6993" y="39395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Features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06993" y="4435078"/>
            <a:ext cx="6635829" cy="1042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Hold time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Key press duration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Flight time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Time between key presses</a:t>
            </a:r>
            <a:endParaRPr lang="en-US" sz="155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latency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Timing patterns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43361" y="169128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Target Encoding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843361" y="2186821"/>
            <a:ext cx="60875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0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= Genuine User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843361" y="2654260"/>
            <a:ext cx="60875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= Intruder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843361" y="3121700"/>
            <a:ext cx="6087547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Link : </a:t>
            </a:r>
            <a:r>
              <a:rPr lang="en-US" sz="1550" u="sng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https://www.kaggle.com/datasets/carnegiecylab/keystroke-dynamics-benchmark-data-set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843361" y="4200168"/>
            <a:ext cx="60875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843361" y="4667607"/>
            <a:ext cx="6087547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Shape</a:t>
            </a: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: (20400, 34)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6993" y="5810012"/>
            <a:ext cx="4579977" cy="50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Preprocessing Pipeline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706993" y="6692027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1B54DA"/>
          </a:solidFill>
          <a:ln/>
        </p:spPr>
      </p:sp>
      <p:sp>
        <p:nvSpPr>
          <p:cNvPr id="16" name="Text 14"/>
          <p:cNvSpPr/>
          <p:nvPr/>
        </p:nvSpPr>
        <p:spPr>
          <a:xfrm>
            <a:off x="987862" y="658475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Cleaning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87862" y="7008257"/>
            <a:ext cx="2854643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Removed unnecessary columns and invalid entries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067294" y="6692027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1B54DA"/>
          </a:solidFill>
          <a:ln/>
        </p:spPr>
      </p:sp>
      <p:sp>
        <p:nvSpPr>
          <p:cNvPr id="19" name="Text 17"/>
          <p:cNvSpPr/>
          <p:nvPr/>
        </p:nvSpPr>
        <p:spPr>
          <a:xfrm>
            <a:off x="4348163" y="658475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Label Creation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4348163" y="7008257"/>
            <a:ext cx="2854643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One user designated as genuine, others as intruders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27595" y="6692027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1B54DA"/>
          </a:solidFill>
          <a:ln/>
        </p:spPr>
      </p:sp>
      <p:sp>
        <p:nvSpPr>
          <p:cNvPr id="22" name="Text 20"/>
          <p:cNvSpPr/>
          <p:nvPr/>
        </p:nvSpPr>
        <p:spPr>
          <a:xfrm>
            <a:off x="7708463" y="658475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Normalization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708463" y="7008257"/>
            <a:ext cx="2854643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StandardScaler applied for consistent feature scaling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787896" y="6692027"/>
            <a:ext cx="100965" cy="100965"/>
          </a:xfrm>
          <a:prstGeom prst="roundRect">
            <a:avLst>
              <a:gd name="adj" fmla="val 452830"/>
            </a:avLst>
          </a:prstGeom>
          <a:solidFill>
            <a:srgbClr val="1B54DA"/>
          </a:solidFill>
          <a:ln/>
        </p:spPr>
      </p:sp>
      <p:sp>
        <p:nvSpPr>
          <p:cNvPr id="25" name="Text 23"/>
          <p:cNvSpPr/>
          <p:nvPr/>
        </p:nvSpPr>
        <p:spPr>
          <a:xfrm>
            <a:off x="11068764" y="658475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Training Data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1068764" y="7008257"/>
            <a:ext cx="2854643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Only genuine user data used for model training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77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Methodology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4014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95193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669500"/>
            <a:ext cx="42089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Data Loading &amp; Preprocessing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159919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preparation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14014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95193"/>
            <a:ext cx="6408063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9" name="Text 7"/>
          <p:cNvSpPr/>
          <p:nvPr/>
        </p:nvSpPr>
        <p:spPr>
          <a:xfrm>
            <a:off x="7428548" y="26695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Feature Scaling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159919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Normalization applied to all input features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39196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274701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449008"/>
            <a:ext cx="3054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Autoencoder Training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4939427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learns patterns from genuine user data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3919657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4274701"/>
            <a:ext cx="6408063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17" name="Text 15"/>
          <p:cNvSpPr/>
          <p:nvPr/>
        </p:nvSpPr>
        <p:spPr>
          <a:xfrm>
            <a:off x="7428548" y="4449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Error Calculation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4939427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Reconstruction error computed for each sample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569916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93790" y="6054209"/>
            <a:ext cx="6407944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Threshold Selection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3790" y="6718935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85th percentile used for classification boundary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28548" y="569916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7428548" y="6054209"/>
            <a:ext cx="6408063" cy="30480"/>
          </a:xfrm>
          <a:prstGeom prst="rect">
            <a:avLst/>
          </a:prstGeom>
          <a:solidFill>
            <a:srgbClr val="1B54DA"/>
          </a:solidFill>
          <a:ln/>
        </p:spPr>
      </p:sp>
      <p:sp>
        <p:nvSpPr>
          <p:cNvPr id="25" name="Text 23"/>
          <p:cNvSpPr/>
          <p:nvPr/>
        </p:nvSpPr>
        <p:spPr>
          <a:xfrm>
            <a:off x="7428548" y="62285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Classification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428548" y="6718935"/>
            <a:ext cx="64080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 users vs. anomaly detection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5438"/>
            <a:ext cx="88182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 &amp; Performance Analysis :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21193"/>
            <a:ext cx="4158615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96.25%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1455420" y="28055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2960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Overall classification performance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1921193"/>
            <a:ext cx="4158615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96.48%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5537478" y="2805589"/>
            <a:ext cx="3555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Intruder Detection Recall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29600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Successful identification of unauthorized users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1921193"/>
            <a:ext cx="4158615" cy="6010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47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85th</a:t>
            </a:r>
            <a:endParaRPr lang="en-US" sz="4700" dirty="0"/>
          </a:p>
        </p:txBody>
      </p:sp>
      <p:sp>
        <p:nvSpPr>
          <p:cNvPr id="10" name="Text 8"/>
          <p:cNvSpPr/>
          <p:nvPr/>
        </p:nvSpPr>
        <p:spPr>
          <a:xfrm>
            <a:off x="10310455" y="2805589"/>
            <a:ext cx="289357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Percentile Threshold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296007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Optimal cutoff point for classification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436197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Key Observations</a:t>
            </a:r>
            <a:endParaRPr lang="en-US" sz="2650" dirty="0"/>
          </a:p>
        </p:txBody>
      </p:sp>
      <p:sp>
        <p:nvSpPr>
          <p:cNvPr id="13" name="Shape 11"/>
          <p:cNvSpPr/>
          <p:nvPr/>
        </p:nvSpPr>
        <p:spPr>
          <a:xfrm>
            <a:off x="793790" y="5127427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512742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3847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Clear Separation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87513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Distinct difference between normal user patterns and intruder behavior observed in reconstruction errors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5216962" y="5127427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86482" y="512742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19" name="Text 17"/>
          <p:cNvSpPr/>
          <p:nvPr/>
        </p:nvSpPr>
        <p:spPr>
          <a:xfrm>
            <a:off x="5565696" y="53847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Threshold Impact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65696" y="587513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Percentile-based threshold tuning significantly improved detection performance and reduced false positives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9640133" y="5127427"/>
            <a:ext cx="4196358" cy="2456617"/>
          </a:xfrm>
          <a:prstGeom prst="roundRect">
            <a:avLst>
              <a:gd name="adj" fmla="val 5956"/>
            </a:avLst>
          </a:prstGeom>
          <a:solidFill>
            <a:srgbClr val="F9F9FF"/>
          </a:solidFill>
          <a:ln w="30480">
            <a:solidFill>
              <a:srgbClr val="B8C3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9653" y="5127427"/>
            <a:ext cx="121920" cy="2456617"/>
          </a:xfrm>
          <a:prstGeom prst="roundRect">
            <a:avLst>
              <a:gd name="adj" fmla="val 78139"/>
            </a:avLst>
          </a:prstGeom>
          <a:solidFill>
            <a:srgbClr val="1B54DA"/>
          </a:solidFill>
          <a:ln/>
        </p:spPr>
      </p:sp>
      <p:sp>
        <p:nvSpPr>
          <p:cNvPr id="23" name="Text 21"/>
          <p:cNvSpPr/>
          <p:nvPr/>
        </p:nvSpPr>
        <p:spPr>
          <a:xfrm>
            <a:off x="9988868" y="5384721"/>
            <a:ext cx="292107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4155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Real-Time Feasibility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988868" y="5875139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demonstrates practical application for continuous authentication without user disruption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7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Results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50" y="2427862"/>
            <a:ext cx="3799284" cy="143172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50" y="4254935"/>
            <a:ext cx="3490555" cy="34047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72067" y="2576751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Code Implimentation link : 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872067" y="3143726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1B54DA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Colab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793790" y="654284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A7B315-C9E0-FF24-5E42-71BDD3BE7B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6216" y="2427862"/>
            <a:ext cx="4777967" cy="43132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154"/>
            <a:ext cx="128595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Alexandria" pitchFamily="34" charset="0"/>
                <a:ea typeface="Alexandria" pitchFamily="34" charset="-122"/>
                <a:cs typeface="Alexandria" pitchFamily="34" charset="-120"/>
              </a:rPr>
              <a:t>Dimensionality Reduction using Autoencoder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2356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encoder compresses the input into a lower-dimensional  and the decoder reconstructs the original data from this compressed representation.</a:t>
            </a:r>
          </a:p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</a:rPr>
              <a:t>e.g. </a:t>
            </a:r>
            <a:r>
              <a:rPr lang="en-IN" b="1" dirty="0"/>
              <a:t>Google Photos</a:t>
            </a:r>
          </a:p>
          <a:p>
            <a:r>
              <a:rPr lang="en-US" dirty="0"/>
              <a:t>The Application: Searching for similar images or compressing large image datasets.</a:t>
            </a:r>
          </a:p>
          <a:p>
            <a:r>
              <a:rPr lang="en-US" dirty="0"/>
              <a:t>How Dimension Reduction Happens: A convolutional autoencoder compresses an image (thousands of pixels) into a small bottleneck code, or latent representation, that captures essential features like edges, shapes, and colors.</a:t>
            </a:r>
          </a:p>
          <a:p>
            <a:pPr>
              <a:lnSpc>
                <a:spcPts val="2850"/>
              </a:lnSpc>
            </a:pPr>
            <a:endParaRPr lang="en-IN" dirty="0"/>
          </a:p>
          <a:p>
            <a:pPr>
              <a:lnSpc>
                <a:spcPts val="2850"/>
              </a:lnSpc>
            </a:pP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183" y="3830717"/>
            <a:ext cx="6380559" cy="4253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35372" y="3008590"/>
            <a:ext cx="610874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445</Words>
  <Application>Microsoft Office PowerPoint</Application>
  <PresentationFormat>Custom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Nobile</vt:lpstr>
      <vt:lpstr>Alexandria Light</vt:lpstr>
      <vt:lpstr>Arial</vt:lpstr>
      <vt:lpstr>Alexandria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Gunjan Upadhyay</dc:creator>
  <cp:lastModifiedBy>Gunjan Upadhyay</cp:lastModifiedBy>
  <cp:revision>5</cp:revision>
  <dcterms:created xsi:type="dcterms:W3CDTF">2026-04-13T01:56:57Z</dcterms:created>
  <dcterms:modified xsi:type="dcterms:W3CDTF">2026-04-13T06:01:04Z</dcterms:modified>
</cp:coreProperties>
</file>